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97" r:id="rId2"/>
    <p:sldId id="289" r:id="rId3"/>
    <p:sldId id="300" r:id="rId4"/>
    <p:sldId id="301" r:id="rId5"/>
    <p:sldId id="304" r:id="rId6"/>
    <p:sldId id="318" r:id="rId7"/>
    <p:sldId id="310" r:id="rId8"/>
    <p:sldId id="305" r:id="rId9"/>
    <p:sldId id="306" r:id="rId10"/>
    <p:sldId id="317" r:id="rId11"/>
    <p:sldId id="307" r:id="rId12"/>
    <p:sldId id="325" r:id="rId13"/>
    <p:sldId id="316" r:id="rId14"/>
    <p:sldId id="265" r:id="rId15"/>
    <p:sldId id="30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3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007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2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4.png"/><Relationship Id="rId5" Type="http://schemas.openxmlformats.org/officeDocument/2006/relationships/image" Target="../media/image33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7C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B5A8F">
              <a:alpha val="40000"/>
            </a:srgbClr>
          </a:solidFill>
          <a:ln w="12700">
            <a:solidFill>
              <a:srgbClr val="2B5A8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>
            <a:off x="7315200" y="2743200"/>
            <a:ext cx="4572000" cy="4572000"/>
          </a:xfrm>
          <a:prstGeom prst="ellipse">
            <a:avLst/>
          </a:prstGeom>
          <a:solidFill>
            <a:srgbClr val="2B5A8F">
              <a:alpha val="40000"/>
            </a:srgbClr>
          </a:solidFill>
          <a:ln w="12700">
            <a:solidFill>
              <a:srgbClr val="2B5A8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5"/>
          <p:cNvSpPr/>
          <p:nvPr/>
        </p:nvSpPr>
        <p:spPr>
          <a:xfrm>
            <a:off x="2926080" y="9144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inspiration</a:t>
            </a:r>
            <a:endParaRPr lang="en-US" sz="5200" dirty="0"/>
          </a:p>
        </p:txBody>
      </p:sp>
      <p:sp>
        <p:nvSpPr>
          <p:cNvPr id="10" name="Text 6"/>
          <p:cNvSpPr/>
          <p:nvPr/>
        </p:nvSpPr>
        <p:spPr>
          <a:xfrm>
            <a:off x="2926080" y="1828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</a:t>
            </a:r>
            <a:endParaRPr lang="en-US" sz="5200" dirty="0"/>
          </a:p>
        </p:txBody>
      </p:sp>
      <p:sp>
        <p:nvSpPr>
          <p:cNvPr id="12" name="Shap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nl-BE" dirty="0"/>
          </a:p>
        </p:txBody>
      </p:sp>
      <p:sp>
        <p:nvSpPr>
          <p:cNvPr id="13" name="Text 9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164" y="47106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4678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actually does, where it helps, and where it falls short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87055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39" y="301752"/>
            <a:ext cx="1493520" cy="149352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39" y="19217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BelgianCoder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39" y="2386839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Wouters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66160" y="274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E7C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Me</a:t>
            </a:r>
            <a:endParaRPr lang="en-US" sz="3800" dirty="0"/>
          </a:p>
        </p:txBody>
      </p:sp>
      <p:sp>
        <p:nvSpPr>
          <p:cNvPr id="15" name="Shape 12"/>
          <p:cNvSpPr/>
          <p:nvPr/>
        </p:nvSpPr>
        <p:spPr>
          <a:xfrm>
            <a:off x="3474720" y="1143000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BE" dirty="0"/>
          </a:p>
        </p:txBody>
      </p:sp>
      <p:sp>
        <p:nvSpPr>
          <p:cNvPr id="16" name="Shape 13"/>
          <p:cNvSpPr/>
          <p:nvPr/>
        </p:nvSpPr>
        <p:spPr>
          <a:xfrm>
            <a:off x="3474720" y="1143000"/>
            <a:ext cx="91440" cy="658368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Shape 14"/>
          <p:cNvSpPr/>
          <p:nvPr/>
        </p:nvSpPr>
        <p:spPr>
          <a:xfrm>
            <a:off x="3703320" y="1243584"/>
            <a:ext cx="457200" cy="457200"/>
          </a:xfrm>
          <a:prstGeom prst="ellipse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129844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51960" y="11978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7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251960" y="14721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and architecture since 2017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74720" y="1892808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2" name="Shape 18"/>
          <p:cNvSpPr/>
          <p:nvPr/>
        </p:nvSpPr>
        <p:spPr>
          <a:xfrm>
            <a:off x="3474720" y="1892808"/>
            <a:ext cx="91440" cy="658368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3" name="Shape 19"/>
          <p:cNvSpPr/>
          <p:nvPr/>
        </p:nvSpPr>
        <p:spPr>
          <a:xfrm>
            <a:off x="3703320" y="1993392"/>
            <a:ext cx="457200" cy="457200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5" name="Text 20"/>
          <p:cNvSpPr/>
          <p:nvPr/>
        </p:nvSpPr>
        <p:spPr>
          <a:xfrm>
            <a:off x="4251960" y="19476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7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Techorama 2019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251960" y="22219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on machine learning for software engineers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474720" y="2642616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8" name="Shape 23"/>
          <p:cNvSpPr/>
          <p:nvPr/>
        </p:nvSpPr>
        <p:spPr>
          <a:xfrm>
            <a:off x="3474720" y="2642616"/>
            <a:ext cx="91440" cy="65836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9" name="Shape 24"/>
          <p:cNvSpPr/>
          <p:nvPr/>
        </p:nvSpPr>
        <p:spPr>
          <a:xfrm>
            <a:off x="3703320" y="2743200"/>
            <a:ext cx="457200" cy="457200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280" y="2802636"/>
            <a:ext cx="335280" cy="3352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251960" y="2697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7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251960" y="2971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Willebroek, Belgium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3474720" y="3392424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4" name="Shape 28"/>
          <p:cNvSpPr/>
          <p:nvPr/>
        </p:nvSpPr>
        <p:spPr>
          <a:xfrm>
            <a:off x="3474720" y="3392424"/>
            <a:ext cx="91440" cy="658368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5" name="Shape 29"/>
          <p:cNvSpPr/>
          <p:nvPr/>
        </p:nvSpPr>
        <p:spPr>
          <a:xfrm>
            <a:off x="3703320" y="3493008"/>
            <a:ext cx="457200" cy="457200"/>
          </a:xfrm>
          <a:prstGeom prst="ellipse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7" name="Text 30"/>
          <p:cNvSpPr/>
          <p:nvPr/>
        </p:nvSpPr>
        <p:spPr>
          <a:xfrm>
            <a:off x="4251960" y="34472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7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251960" y="37216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servers, automation, and makerspace projects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3474720" y="4142232"/>
            <a:ext cx="5349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0" name="Shape 33"/>
          <p:cNvSpPr/>
          <p:nvPr/>
        </p:nvSpPr>
        <p:spPr>
          <a:xfrm>
            <a:off x="3474720" y="4142232"/>
            <a:ext cx="9144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1" name="Shape 34"/>
          <p:cNvSpPr/>
          <p:nvPr/>
        </p:nvSpPr>
        <p:spPr>
          <a:xfrm>
            <a:off x="3703320" y="4242816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3" name="Text 35"/>
          <p:cNvSpPr/>
          <p:nvPr/>
        </p:nvSpPr>
        <p:spPr>
          <a:xfrm>
            <a:off x="4251960" y="41970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7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focus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4251960" y="44714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engineering, agentic workflows, and architecture</a:t>
            </a:r>
            <a:endParaRPr lang="en-US" sz="1200" dirty="0"/>
          </a:p>
        </p:txBody>
      </p:sp>
      <p:pic>
        <p:nvPicPr>
          <p:cNvPr id="46" name="Graphic 46" descr="Currently Exploring rocket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0564" y="4315206"/>
            <a:ext cx="342900" cy="342900"/>
          </a:xfrm>
          <a:prstGeom prst="rect">
            <a:avLst/>
          </a:prstGeom>
        </p:spPr>
      </p:pic>
      <p:pic>
        <p:nvPicPr>
          <p:cNvPr id="47" name="Graphic 47" descr="Techorama speaker microphone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64280" y="2053590"/>
            <a:ext cx="342900" cy="342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37FE99-8EEF-A612-A3F5-093842B00C1A}"/>
              </a:ext>
            </a:extLst>
          </p:cNvPr>
          <p:cNvSpPr txBox="1"/>
          <p:nvPr/>
        </p:nvSpPr>
        <p:spPr>
          <a:xfrm>
            <a:off x="145732" y="2847347"/>
            <a:ext cx="29089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Practitioner</a:t>
            </a:r>
          </a:p>
        </p:txBody>
      </p:sp>
      <p:sp>
        <p:nvSpPr>
          <p:cNvPr id="200" name="AccentLineTop"/>
          <p:cNvSpPr/>
          <p:nvPr/>
        </p:nvSpPr>
        <p:spPr>
          <a:xfrm>
            <a:off x="1219200" y="2775712"/>
            <a:ext cx="762000" cy="0"/>
          </a:xfrm>
          <a:prstGeom prst="line">
            <a:avLst/>
          </a:prstGeom>
          <a:ln w="19050">
            <a:solidFill>
              <a:srgbClr val="FFCC00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201" name="AccentLineBottom"/>
          <p:cNvSpPr/>
          <p:nvPr/>
        </p:nvSpPr>
        <p:spPr>
          <a:xfrm>
            <a:off x="1219200" y="3493008"/>
            <a:ext cx="762000" cy="0"/>
          </a:xfrm>
          <a:prstGeom prst="line">
            <a:avLst/>
          </a:prstGeom>
          <a:ln w="19050">
            <a:solidFill>
              <a:srgbClr val="FFCC00"/>
            </a:solidFill>
          </a:ln>
        </p:spPr>
        <p:txBody>
          <a:bodyPr/>
          <a:lstStyle/>
          <a:p>
            <a:endParaRPr lang="nl-BE"/>
          </a:p>
        </p:txBody>
      </p:sp>
      <p:sp>
        <p:nvSpPr>
          <p:cNvPr id="211" name="GitHub Link"/>
          <p:cNvSpPr txBox="1"/>
          <p:nvPr/>
        </p:nvSpPr>
        <p:spPr>
          <a:xfrm>
            <a:off x="0" y="4780280"/>
            <a:ext cx="3200400" cy="190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</a:rPr>
              <a:t>github.com/Belgian-Coder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7AB58B-6748-CCEE-B8B5-AA1743D371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610" y="3640835"/>
            <a:ext cx="1048513" cy="1048513"/>
          </a:xfrm>
          <a:prstGeom prst="rect">
            <a:avLst/>
          </a:prstGeom>
        </p:spPr>
      </p:pic>
      <p:pic>
        <p:nvPicPr>
          <p:cNvPr id="212" name="Graphic 212" descr="Heart icon for Passion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59200" y="3556000"/>
            <a:ext cx="342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53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Agenda</a:t>
            </a:r>
            <a:endParaRPr lang="en-US" sz="3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73152"/>
            <a:ext cx="749808" cy="749808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11887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7" name="Shape 3"/>
          <p:cNvSpPr/>
          <p:nvPr/>
        </p:nvSpPr>
        <p:spPr>
          <a:xfrm>
            <a:off x="274320" y="1188720"/>
            <a:ext cx="2743200" cy="438912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Text 4"/>
          <p:cNvSpPr/>
          <p:nvPr/>
        </p:nvSpPr>
        <p:spPr>
          <a:xfrm>
            <a:off x="36576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207008"/>
            <a:ext cx="402336" cy="402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122529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LLM?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1148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language models actually work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200400" y="11887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Shape 8"/>
          <p:cNvSpPr/>
          <p:nvPr/>
        </p:nvSpPr>
        <p:spPr>
          <a:xfrm>
            <a:off x="3200400" y="1188720"/>
            <a:ext cx="2743200" cy="438912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Text 9"/>
          <p:cNvSpPr/>
          <p:nvPr/>
        </p:nvSpPr>
        <p:spPr>
          <a:xfrm>
            <a:off x="329184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1207008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160520" y="122529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333756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takes action, not just answers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26480" y="11887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9" name="Shape 13"/>
          <p:cNvSpPr/>
          <p:nvPr/>
        </p:nvSpPr>
        <p:spPr>
          <a:xfrm>
            <a:off x="6126480" y="1188720"/>
            <a:ext cx="2743200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0" name="Text 14"/>
          <p:cNvSpPr/>
          <p:nvPr/>
        </p:nvSpPr>
        <p:spPr>
          <a:xfrm>
            <a:off x="621792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1207008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122529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vs A2A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26364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tools connect to each other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74320" y="29718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5" name="Shape 18"/>
          <p:cNvSpPr/>
          <p:nvPr/>
        </p:nvSpPr>
        <p:spPr>
          <a:xfrm>
            <a:off x="274320" y="2971800"/>
            <a:ext cx="274320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6" name="Text 19"/>
          <p:cNvSpPr/>
          <p:nvPr/>
        </p:nvSpPr>
        <p:spPr>
          <a:xfrm>
            <a:off x="36576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2990088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30083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1148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AI access to your data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3200400" y="29718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1" name="Shape 23"/>
          <p:cNvSpPr/>
          <p:nvPr/>
        </p:nvSpPr>
        <p:spPr>
          <a:xfrm>
            <a:off x="3200400" y="2971800"/>
            <a:ext cx="2743200" cy="438912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2" name="Text 24"/>
          <p:cNvSpPr/>
          <p:nvPr/>
        </p:nvSpPr>
        <p:spPr>
          <a:xfrm>
            <a:off x="32918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3320" y="2990088"/>
            <a:ext cx="402336" cy="40233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160520" y="30083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333756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36" name="Shape 27"/>
          <p:cNvSpPr/>
          <p:nvPr/>
        </p:nvSpPr>
        <p:spPr>
          <a:xfrm>
            <a:off x="6126480" y="29718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7" name="Shape 28"/>
          <p:cNvSpPr/>
          <p:nvPr/>
        </p:nvSpPr>
        <p:spPr>
          <a:xfrm>
            <a:off x="6126480" y="2971800"/>
            <a:ext cx="2743200" cy="438912"/>
          </a:xfrm>
          <a:prstGeom prst="rect">
            <a:avLst/>
          </a:prstGeom>
          <a:solidFill>
            <a:srgbClr val="2E4053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8" name="Text 29"/>
          <p:cNvSpPr/>
          <p:nvPr/>
        </p:nvSpPr>
        <p:spPr>
          <a:xfrm>
            <a:off x="621792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2990088"/>
            <a:ext cx="402336" cy="40233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086600" y="3008376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&amp; Future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626364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applications &amp; what to watch for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86240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an LLM?</a:t>
            </a:r>
            <a:endParaRPr lang="en-US" sz="3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73152"/>
            <a:ext cx="749808" cy="749808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4856" y="116586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7" name="Shape 3"/>
          <p:cNvSpPr/>
          <p:nvPr/>
        </p:nvSpPr>
        <p:spPr>
          <a:xfrm>
            <a:off x="1193496" y="1348740"/>
            <a:ext cx="914400" cy="914400"/>
          </a:xfrm>
          <a:prstGeom prst="ellipse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Text 4"/>
          <p:cNvSpPr/>
          <p:nvPr/>
        </p:nvSpPr>
        <p:spPr>
          <a:xfrm>
            <a:off x="1193496" y="13487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644856" y="24003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7C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Large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376" y="290322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6296" y="35433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parameters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massive data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548076" y="116586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Shape 8"/>
          <p:cNvSpPr/>
          <p:nvPr/>
        </p:nvSpPr>
        <p:spPr>
          <a:xfrm>
            <a:off x="4096716" y="1348740"/>
            <a:ext cx="914400" cy="914400"/>
          </a:xfrm>
          <a:prstGeom prst="ellipse">
            <a:avLst/>
          </a:prstGeom>
          <a:solidFill>
            <a:srgbClr val="CC0033"/>
          </a:solidFill>
          <a:ln w="12700">
            <a:solidFill>
              <a:srgbClr val="CC003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Text 9"/>
          <p:cNvSpPr/>
          <p:nvPr/>
        </p:nvSpPr>
        <p:spPr>
          <a:xfrm>
            <a:off x="4096716" y="13487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3548076" y="24003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00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Language</a:t>
            </a:r>
            <a:endParaRPr lang="en-US" sz="1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596" y="290322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39516" y="35433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&amp; generates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language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451296" y="1165860"/>
            <a:ext cx="2011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9" name="Shape 13"/>
          <p:cNvSpPr/>
          <p:nvPr/>
        </p:nvSpPr>
        <p:spPr>
          <a:xfrm>
            <a:off x="6999936" y="1348740"/>
            <a:ext cx="914400" cy="914400"/>
          </a:xfrm>
          <a:prstGeom prst="ellipse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0" name="Text 14"/>
          <p:cNvSpPr/>
          <p:nvPr/>
        </p:nvSpPr>
        <p:spPr>
          <a:xfrm>
            <a:off x="6999936" y="13487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3600" dirty="0"/>
          </a:p>
        </p:txBody>
      </p:sp>
      <p:sp>
        <p:nvSpPr>
          <p:cNvPr id="21" name="Text 15"/>
          <p:cNvSpPr/>
          <p:nvPr/>
        </p:nvSpPr>
        <p:spPr>
          <a:xfrm>
            <a:off x="6451296" y="24003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83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16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2816" y="290322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42736" y="35433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function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predicts text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6" name="Text 18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the most likely next word — it doesn't actually understand meaning.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76829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 LLMs feel so smart?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73152"/>
            <a:ext cx="749808" cy="749808"/>
          </a:xfrm>
          <a:prstGeom prst="ellipse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269242"/>
            <a:ext cx="3108960" cy="310896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0" y="1143000"/>
            <a:ext cx="4663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Shape 3"/>
          <p:cNvSpPr/>
          <p:nvPr/>
        </p:nvSpPr>
        <p:spPr>
          <a:xfrm>
            <a:off x="4114800" y="1143000"/>
            <a:ext cx="109728" cy="1097280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4"/>
          <p:cNvSpPr/>
          <p:nvPr/>
        </p:nvSpPr>
        <p:spPr>
          <a:xfrm>
            <a:off x="4343400" y="121615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E7C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 trillion</a:t>
            </a:r>
            <a:endParaRPr lang="en-US" sz="2600" dirty="0"/>
          </a:p>
        </p:txBody>
      </p:sp>
      <p:sp>
        <p:nvSpPr>
          <p:cNvPr id="10" name="Text 5"/>
          <p:cNvSpPr/>
          <p:nvPr/>
        </p:nvSpPr>
        <p:spPr>
          <a:xfrm>
            <a:off x="4343400" y="17099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in GPT-4's training data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114800" y="2377440"/>
            <a:ext cx="4663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2" name="Shape 7"/>
          <p:cNvSpPr/>
          <p:nvPr/>
        </p:nvSpPr>
        <p:spPr>
          <a:xfrm>
            <a:off x="4114800" y="2377440"/>
            <a:ext cx="109728" cy="1097280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Text 8"/>
          <p:cNvSpPr/>
          <p:nvPr/>
        </p:nvSpPr>
        <p:spPr>
          <a:xfrm>
            <a:off x="4343400" y="245059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E7C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60+ languages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4343400" y="29443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during training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114800" y="3611880"/>
            <a:ext cx="4663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6" name="Shape 11"/>
          <p:cNvSpPr/>
          <p:nvPr/>
        </p:nvSpPr>
        <p:spPr>
          <a:xfrm>
            <a:off x="4114800" y="3611880"/>
            <a:ext cx="109728" cy="1097280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Text 12"/>
          <p:cNvSpPr/>
          <p:nvPr/>
        </p:nvSpPr>
        <p:spPr>
          <a:xfrm>
            <a:off x="4343400" y="368503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E7C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 petabyte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4343400" y="4178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raw text — before compression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0" name="Text 15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creates the illusion of understanding — but it's pattern matching, not knowledge.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62040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06A4B4-4A6C-4A43-98FC-BF92E7ECA1F1}"/>
              </a:ext>
            </a:extLst>
          </p:cNvPr>
          <p:cNvSpPr/>
          <p:nvPr/>
        </p:nvSpPr>
        <p:spPr>
          <a:xfrm>
            <a:off x="0" y="0"/>
            <a:ext cx="9144000" cy="1003300"/>
          </a:xfrm>
          <a:prstGeom prst="rect">
            <a:avLst/>
          </a:prstGeom>
          <a:solidFill>
            <a:srgbClr val="3E7C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D6318A-6D62-4481-B0A0-2CF4C0140DDC}"/>
              </a:ext>
            </a:extLst>
          </p:cNvPr>
          <p:cNvSpPr txBox="1"/>
          <p:nvPr/>
        </p:nvSpPr>
        <p:spPr>
          <a:xfrm>
            <a:off x="1092200" y="0"/>
            <a:ext cx="7861300" cy="10033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2400" b="1">
                <a:solidFill>
                  <a:srgbClr val="FFFFFF"/>
                </a:solidFill>
                <a:latin typeface="Arial Black"/>
              </a:rPr>
              <a:t>Meanwhile, in the real world...</a:t>
            </a:r>
            <a:endParaRPr lang="nl-BE" sz="2400" b="1">
              <a:solidFill>
                <a:srgbClr val="FFFFFF"/>
              </a:solidFill>
              <a:latin typeface="Arial Blac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48C0A-1B37-D5A1-AAE2-A389910B5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315" y="1085480"/>
            <a:ext cx="5881370" cy="392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5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4053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749808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can you do with AI today?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73152"/>
            <a:ext cx="749808" cy="749808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11887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7" name="Shape 3"/>
          <p:cNvSpPr/>
          <p:nvPr/>
        </p:nvSpPr>
        <p:spPr>
          <a:xfrm>
            <a:off x="457200" y="1371600"/>
            <a:ext cx="822960" cy="822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592148" y="1502860"/>
            <a:ext cx="541266" cy="5412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 emails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1371600" y="196596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1" name="Text 6"/>
          <p:cNvSpPr/>
          <p:nvPr/>
        </p:nvSpPr>
        <p:spPr>
          <a:xfrm>
            <a:off x="137160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3200400" y="11887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Shape 8"/>
          <p:cNvSpPr/>
          <p:nvPr/>
        </p:nvSpPr>
        <p:spPr>
          <a:xfrm>
            <a:off x="3383280" y="1371600"/>
            <a:ext cx="822960" cy="822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3499349" y="1485015"/>
            <a:ext cx="581529" cy="58152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9768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297680" y="196596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7" name="Text 11"/>
          <p:cNvSpPr/>
          <p:nvPr/>
        </p:nvSpPr>
        <p:spPr>
          <a:xfrm>
            <a:off x="429768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26480" y="118872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9" name="Shape 13"/>
          <p:cNvSpPr/>
          <p:nvPr/>
        </p:nvSpPr>
        <p:spPr>
          <a:xfrm>
            <a:off x="6309360" y="1371600"/>
            <a:ext cx="822960" cy="822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6436049" y="1502860"/>
            <a:ext cx="559111" cy="55911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2376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223760" y="196596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3" name="Text 16"/>
          <p:cNvSpPr/>
          <p:nvPr/>
        </p:nvSpPr>
        <p:spPr>
          <a:xfrm>
            <a:off x="7223760" y="19659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274320" y="29260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5" name="Shape 18"/>
          <p:cNvSpPr/>
          <p:nvPr/>
        </p:nvSpPr>
        <p:spPr>
          <a:xfrm>
            <a:off x="457200" y="3108960"/>
            <a:ext cx="822960" cy="822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597974" y="3255633"/>
            <a:ext cx="529614" cy="52961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71600" y="3108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1371600" y="37033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9" name="Text 21"/>
          <p:cNvSpPr/>
          <p:nvPr/>
        </p:nvSpPr>
        <p:spPr>
          <a:xfrm>
            <a:off x="1371600" y="3703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3200400" y="29260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1" name="Shape 23"/>
          <p:cNvSpPr/>
          <p:nvPr/>
        </p:nvSpPr>
        <p:spPr>
          <a:xfrm>
            <a:off x="3383280" y="3108960"/>
            <a:ext cx="822960" cy="822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3526930" y="3225400"/>
            <a:ext cx="530352" cy="53035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297680" y="3108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assistants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4297680" y="37033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5" name="Text 26"/>
          <p:cNvSpPr/>
          <p:nvPr/>
        </p:nvSpPr>
        <p:spPr>
          <a:xfrm>
            <a:off x="4297680" y="3703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126480" y="29260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7" name="Shape 28"/>
          <p:cNvSpPr/>
          <p:nvPr/>
        </p:nvSpPr>
        <p:spPr>
          <a:xfrm>
            <a:off x="6309360" y="3108960"/>
            <a:ext cx="822960" cy="82296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6474321" y="3237936"/>
            <a:ext cx="529614" cy="52961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223760" y="3108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40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summaries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7223760" y="37033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1" name="Text 31"/>
          <p:cNvSpPr/>
          <p:nvPr/>
        </p:nvSpPr>
        <p:spPr>
          <a:xfrm>
            <a:off x="7223760" y="3703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34094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228600" y="109728"/>
            <a:ext cx="749808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</a:t>
            </a:r>
            <a:endParaRPr lang="en-US" sz="3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73152"/>
            <a:ext cx="749808" cy="749808"/>
          </a:xfrm>
          <a:prstGeom prst="ellipse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7C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LLM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521208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83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274320" y="1691640"/>
            <a:ext cx="3657600" cy="566928"/>
          </a:xfrm>
          <a:prstGeom prst="rect">
            <a:avLst/>
          </a:prstGeom>
          <a:solidFill>
            <a:srgbClr val="EAF2FF"/>
          </a:solidFill>
          <a:ln w="12700">
            <a:solidFill>
              <a:srgbClr val="B8D4F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178308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16916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a question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274320" y="237744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F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46888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2377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274320" y="3063240"/>
            <a:ext cx="3657600" cy="566928"/>
          </a:xfrm>
          <a:prstGeom prst="rect">
            <a:avLst/>
          </a:prstGeom>
          <a:solidFill>
            <a:srgbClr val="EAF2FF"/>
          </a:solidFill>
          <a:ln w="12700">
            <a:solidFill>
              <a:srgbClr val="B8D4F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15468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30632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go back and forth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274320" y="374904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F5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840480"/>
            <a:ext cx="365760" cy="3657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68680" y="37490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do things itself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5212080" y="1691640"/>
            <a:ext cx="3657600" cy="566928"/>
          </a:xfrm>
          <a:prstGeom prst="rect">
            <a:avLst/>
          </a:prstGeom>
          <a:solidFill>
            <a:srgbClr val="EAF8EF"/>
          </a:solidFill>
          <a:ln w="12700">
            <a:solidFill>
              <a:srgbClr val="A8D9B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808" y="1783080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806440" y="16916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a goal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5212080" y="237744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9B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808" y="2468880"/>
            <a:ext cx="365760" cy="36576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806440" y="2377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plans steps</a:t>
            </a:r>
            <a:endParaRPr lang="en-US" sz="1400" dirty="0"/>
          </a:p>
        </p:txBody>
      </p:sp>
      <p:sp>
        <p:nvSpPr>
          <p:cNvPr id="26" name="Shape 16"/>
          <p:cNvSpPr/>
          <p:nvPr/>
        </p:nvSpPr>
        <p:spPr>
          <a:xfrm>
            <a:off x="5212080" y="3063240"/>
            <a:ext cx="3657600" cy="566928"/>
          </a:xfrm>
          <a:prstGeom prst="rect">
            <a:avLst/>
          </a:prstGeom>
          <a:solidFill>
            <a:srgbClr val="EAF8EF"/>
          </a:solidFill>
          <a:ln w="12700">
            <a:solidFill>
              <a:srgbClr val="A8D9B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1808" y="3154680"/>
            <a:ext cx="365760" cy="36576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806440" y="30632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 &amp; APIs</a:t>
            </a:r>
            <a:endParaRPr lang="en-US" sz="1400" dirty="0"/>
          </a:p>
        </p:txBody>
      </p:sp>
      <p:sp>
        <p:nvSpPr>
          <p:cNvPr id="29" name="Shape 18"/>
          <p:cNvSpPr/>
          <p:nvPr/>
        </p:nvSpPr>
        <p:spPr>
          <a:xfrm>
            <a:off x="5212080" y="3749040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8D9B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1808" y="3840480"/>
            <a:ext cx="365760" cy="36576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806440" y="37490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real actions</a:t>
            </a:r>
            <a:endParaRPr lang="en-US" sz="1400" dirty="0"/>
          </a:p>
        </p:txBody>
      </p:sp>
      <p:sp>
        <p:nvSpPr>
          <p:cNvPr id="32" name="Shape 20"/>
          <p:cNvSpPr/>
          <p:nvPr/>
        </p:nvSpPr>
        <p:spPr>
          <a:xfrm>
            <a:off x="4023360" y="2468880"/>
            <a:ext cx="1097280" cy="1097280"/>
          </a:xfrm>
          <a:prstGeom prst="ellipse">
            <a:avLst/>
          </a:prstGeom>
          <a:solidFill>
            <a:srgbClr val="FFCC00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3" name="Text 21"/>
          <p:cNvSpPr/>
          <p:nvPr/>
        </p:nvSpPr>
        <p:spPr>
          <a:xfrm>
            <a:off x="402336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2200" dirty="0"/>
          </a:p>
        </p:txBody>
      </p:sp>
      <p:sp>
        <p:nvSpPr>
          <p:cNvPr id="34" name="Shape 22"/>
          <p:cNvSpPr/>
          <p:nvPr/>
        </p:nvSpPr>
        <p:spPr>
          <a:xfrm>
            <a:off x="365760" y="4617720"/>
            <a:ext cx="6217920" cy="411480"/>
          </a:xfrm>
          <a:prstGeom prst="roundRect">
            <a:avLst>
              <a:gd name="adj" fmla="val 17778"/>
            </a:avLst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5" name="Text 23"/>
          <p:cNvSpPr/>
          <p:nvPr/>
        </p:nvSpPr>
        <p:spPr>
          <a:xfrm>
            <a:off x="365760" y="4617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can plan steps, use tools, and complete tasks — but still needs human oversight.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20522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4" name="Text 1"/>
          <p:cNvSpPr/>
          <p:nvPr/>
        </p:nvSpPr>
        <p:spPr>
          <a:xfrm>
            <a:off x="109728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new AI colleague has arrived</a:t>
            </a:r>
            <a:endParaRPr lang="en-US" sz="2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73152"/>
            <a:ext cx="749808" cy="749808"/>
          </a:xfrm>
          <a:prstGeom prst="ellipse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65760" y="1097280"/>
            <a:ext cx="4572000" cy="298450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Shape 3"/>
          <p:cNvSpPr/>
          <p:nvPr/>
        </p:nvSpPr>
        <p:spPr>
          <a:xfrm>
            <a:off x="365760" y="1097280"/>
            <a:ext cx="4572000" cy="50292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9" name="Text 4"/>
          <p:cNvSpPr/>
          <p:nvPr/>
        </p:nvSpPr>
        <p:spPr>
          <a:xfrm>
            <a:off x="365760" y="1097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JOB SPEC: AI Agent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4864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Works: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7373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— no sick days, no coffee breaks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48640" y="222199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737360" y="22219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Reads, writes, codes, googles, emails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48640" y="27066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737360" y="27066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tasks in seconds, not hours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48640" y="31912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Attitude: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737360" y="31912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to please (dangerously so)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36703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8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737360" y="36703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Hallucinates, still limited context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65760" y="43815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3" name="Text 18"/>
          <p:cNvSpPr/>
          <p:nvPr/>
        </p:nvSpPr>
        <p:spPr>
          <a:xfrm>
            <a:off x="365760" y="43815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from day one — but review its work like you would any new hire's.</a:t>
            </a:r>
            <a:endParaRPr lang="en-US" sz="1300" dirty="0"/>
          </a:p>
        </p:txBody>
      </p:sp>
      <p:pic>
        <p:nvPicPr>
          <p:cNvPr id="1026" name="Picture 2" descr="LLM — Blog | Insights on Knowledge Graphs, Semantic Data &amp; AI ...">
            <a:extLst>
              <a:ext uri="{FF2B5EF4-FFF2-40B4-BE49-F238E27FC236}">
                <a16:creationId xmlns:a16="http://schemas.microsoft.com/office/drawing/2014/main" id="{12A9096D-F262-A67B-BB4A-265B61D6D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754" y="1092201"/>
            <a:ext cx="3228746" cy="2989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048032F2-E246-D5DD-772E-E179EDDA103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FFFFFF"/>
              <a:srgbClr val="FFFFFF"/>
            </a:duotone>
          </a:blip>
          <a:stretch>
            <a:fillRect/>
          </a:stretch>
        </p:blipFill>
        <p:spPr>
          <a:xfrm>
            <a:off x="228600" y="107841"/>
            <a:ext cx="749808" cy="74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18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770FAC-499B-4043-B709-C09D0CE9D692}"/>
              </a:ext>
            </a:extLst>
          </p:cNvPr>
          <p:cNvSpPr/>
          <p:nvPr/>
        </p:nvSpPr>
        <p:spPr>
          <a:xfrm>
            <a:off x="0" y="0"/>
            <a:ext cx="9144000" cy="1003300"/>
          </a:xfrm>
          <a:prstGeom prst="rect">
            <a:avLst/>
          </a:prstGeom>
          <a:solidFill>
            <a:srgbClr val="3E7C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nl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3D917-7C6A-4936-8D83-DADDF27FA718}"/>
              </a:ext>
            </a:extLst>
          </p:cNvPr>
          <p:cNvSpPr txBox="1"/>
          <p:nvPr/>
        </p:nvSpPr>
        <p:spPr>
          <a:xfrm>
            <a:off x="1092200" y="0"/>
            <a:ext cx="7861300" cy="10033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2400" b="1">
                <a:solidFill>
                  <a:srgbClr val="FFFFFF"/>
                </a:solidFill>
                <a:latin typeface="Arial Black"/>
              </a:rPr>
              <a:t>What could possibly go wrong?</a:t>
            </a:r>
            <a:endParaRPr lang="nl-BE" sz="2400" b="1">
              <a:solidFill>
                <a:srgbClr val="FFFFFF"/>
              </a:solidFill>
              <a:latin typeface="Arial Blac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BA7DD4-B3DF-30D0-2F34-59C58AFC1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46" y="1138576"/>
            <a:ext cx="5857507" cy="390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34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749808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— Teaching AI to use your data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73152"/>
            <a:ext cx="749808" cy="749808"/>
          </a:xfrm>
          <a:prstGeom prst="ellipse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12801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7" name="Shape 3"/>
          <p:cNvSpPr/>
          <p:nvPr/>
        </p:nvSpPr>
        <p:spPr>
          <a:xfrm>
            <a:off x="274320" y="1280160"/>
            <a:ext cx="1920240" cy="457200"/>
          </a:xfrm>
          <a:prstGeom prst="rect">
            <a:avLst/>
          </a:prstGeom>
          <a:solidFill>
            <a:srgbClr val="3E7CBF"/>
          </a:solidFill>
          <a:ln w="12700">
            <a:solidFill>
              <a:srgbClr val="3E7CBF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Text 4"/>
          <p:cNvSpPr/>
          <p:nvPr/>
        </p:nvSpPr>
        <p:spPr>
          <a:xfrm>
            <a:off x="27432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87452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something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0" y="2148840"/>
            <a:ext cx="228600" cy="27432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423160" y="12801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Shape 7"/>
          <p:cNvSpPr/>
          <p:nvPr/>
        </p:nvSpPr>
        <p:spPr>
          <a:xfrm>
            <a:off x="2423160" y="1280160"/>
            <a:ext cx="192024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4" name="Text 8"/>
          <p:cNvSpPr/>
          <p:nvPr/>
        </p:nvSpPr>
        <p:spPr>
          <a:xfrm>
            <a:off x="242316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Retrieve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0" y="1874520"/>
            <a:ext cx="914400" cy="914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14600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 docs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148840"/>
            <a:ext cx="228600" cy="27432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572000" y="12801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9" name="Shape 11"/>
          <p:cNvSpPr/>
          <p:nvPr/>
        </p:nvSpPr>
        <p:spPr>
          <a:xfrm>
            <a:off x="4572000" y="1280160"/>
            <a:ext cx="1920240" cy="4572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0" name="Text 12"/>
          <p:cNvSpPr/>
          <p:nvPr/>
        </p:nvSpPr>
        <p:spPr>
          <a:xfrm>
            <a:off x="457200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Combine</a:t>
            </a:r>
            <a:endParaRPr lang="en-US" sz="14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1874520"/>
            <a:ext cx="914400" cy="9144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663440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 to prompt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148840"/>
            <a:ext cx="228600" cy="27432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720840" y="128016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5" name="Shape 15"/>
          <p:cNvSpPr/>
          <p:nvPr/>
        </p:nvSpPr>
        <p:spPr>
          <a:xfrm>
            <a:off x="6720840" y="1280160"/>
            <a:ext cx="1920240" cy="457200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26" name="Text 16"/>
          <p:cNvSpPr/>
          <p:nvPr/>
        </p:nvSpPr>
        <p:spPr>
          <a:xfrm>
            <a:off x="672084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4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0" y="1874520"/>
            <a:ext cx="914400" cy="9144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812280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gives smart reply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274320" y="3703320"/>
            <a:ext cx="8366760" cy="1280160"/>
          </a:xfrm>
          <a:prstGeom prst="rect">
            <a:avLst/>
          </a:prstGeom>
          <a:solidFill>
            <a:srgbClr val="FEF9F0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0" name="Shape 19"/>
          <p:cNvSpPr/>
          <p:nvPr/>
        </p:nvSpPr>
        <p:spPr>
          <a:xfrm>
            <a:off x="274320" y="3703320"/>
            <a:ext cx="91440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1" name="Text 20"/>
          <p:cNvSpPr/>
          <p:nvPr/>
        </p:nvSpPr>
        <p:spPr>
          <a:xfrm>
            <a:off x="5029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matters:</a:t>
            </a:r>
            <a:endParaRPr lang="en-US" sz="14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4251960"/>
            <a:ext cx="320040" cy="32004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96112" y="4224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company data</a:t>
            </a:r>
            <a:endParaRPr lang="en-US" sz="12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6040" y="4251960"/>
            <a:ext cx="320040" cy="32004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2999232" y="4224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information</a:t>
            </a:r>
            <a:endParaRPr lang="en-US" sz="12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9160" y="4251960"/>
            <a:ext cx="320040" cy="32004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102352" y="4224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answers</a:t>
            </a:r>
            <a:endParaRPr lang="en-US" sz="12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2280" y="4251960"/>
            <a:ext cx="320040" cy="32004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7205472" y="4224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&amp; secure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60396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749808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vs A2A</a:t>
            </a:r>
            <a:endParaRPr lang="en-US" sz="3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73152"/>
            <a:ext cx="749808" cy="749808"/>
          </a:xfrm>
          <a:prstGeom prst="ellipse">
            <a:avLst/>
          </a:prstGeom>
        </p:spPr>
      </p:pic>
      <p:sp>
        <p:nvSpPr>
          <p:cNvPr id="40" name="B40"/>
          <p:cNvSpPr/>
          <p:nvPr/>
        </p:nvSpPr>
        <p:spPr>
          <a:xfrm>
            <a:off x="3587750" y="1638300"/>
            <a:ext cx="1968500" cy="660400"/>
          </a:xfrm>
          <a:prstGeom prst="roundRect">
            <a:avLst>
              <a:gd name="adj" fmla="val 12000"/>
            </a:avLst>
          </a:prstGeom>
          <a:solidFill>
            <a:srgbClr val="2C3E50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/>
              </a:rPr>
              <a:t>Your AI Agent</a:t>
            </a:r>
          </a:p>
        </p:txBody>
      </p:sp>
      <p:sp>
        <p:nvSpPr>
          <p:cNvPr id="41" name="B41"/>
          <p:cNvSpPr/>
          <p:nvPr/>
        </p:nvSpPr>
        <p:spPr>
          <a:xfrm>
            <a:off x="736600" y="1689100"/>
            <a:ext cx="1333500" cy="558800"/>
          </a:xfrm>
          <a:prstGeom prst="roundRect">
            <a:avLst>
              <a:gd name="adj" fmla="val 12000"/>
            </a:avLst>
          </a:prstGeom>
          <a:solidFill>
            <a:srgbClr val="FADBD8"/>
          </a:solidFill>
          <a:ln w="19050">
            <a:solidFill>
              <a:srgbClr val="E67E22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67E22"/>
                </a:solidFill>
                <a:latin typeface="Calibri"/>
              </a:rPr>
              <a:t>Agent B</a:t>
            </a:r>
          </a:p>
        </p:txBody>
      </p:sp>
      <p:sp>
        <p:nvSpPr>
          <p:cNvPr id="42" name="L42"/>
          <p:cNvSpPr/>
          <p:nvPr/>
        </p:nvSpPr>
        <p:spPr>
          <a:xfrm>
            <a:off x="736600" y="227330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en-US" sz="1400" i="1" dirty="0">
                <a:solidFill>
                  <a:srgbClr val="666666"/>
                </a:solidFill>
                <a:latin typeface="Calibri"/>
              </a:rPr>
              <a:t>Research Agent</a:t>
            </a:r>
          </a:p>
        </p:txBody>
      </p:sp>
      <p:sp>
        <p:nvSpPr>
          <p:cNvPr id="43" name="B43"/>
          <p:cNvSpPr/>
          <p:nvPr/>
        </p:nvSpPr>
        <p:spPr>
          <a:xfrm>
            <a:off x="7073900" y="1689100"/>
            <a:ext cx="1333500" cy="558800"/>
          </a:xfrm>
          <a:prstGeom prst="roundRect">
            <a:avLst>
              <a:gd name="adj" fmla="val 12000"/>
            </a:avLst>
          </a:prstGeom>
          <a:solidFill>
            <a:srgbClr val="FADBD8"/>
          </a:solidFill>
          <a:ln w="19050">
            <a:solidFill>
              <a:srgbClr val="E67E22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500" b="1" dirty="0">
                <a:solidFill>
                  <a:srgbClr val="E67E22"/>
                </a:solidFill>
                <a:latin typeface="Calibri"/>
              </a:rPr>
              <a:t>Agent C</a:t>
            </a:r>
          </a:p>
        </p:txBody>
      </p:sp>
      <p:sp>
        <p:nvSpPr>
          <p:cNvPr id="44" name="L44"/>
          <p:cNvSpPr/>
          <p:nvPr/>
        </p:nvSpPr>
        <p:spPr>
          <a:xfrm>
            <a:off x="7073900" y="2273300"/>
            <a:ext cx="1333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en-US" sz="1400" i="1" dirty="0">
                <a:solidFill>
                  <a:srgbClr val="666666"/>
                </a:solidFill>
                <a:latin typeface="Calibri"/>
              </a:rPr>
              <a:t>Code Agent</a:t>
            </a:r>
          </a:p>
        </p:txBody>
      </p:sp>
      <p:cxnSp>
        <p:nvCxnSpPr>
          <p:cNvPr id="45" name="A45"/>
          <p:cNvCxnSpPr/>
          <p:nvPr/>
        </p:nvCxnSpPr>
        <p:spPr>
          <a:xfrm>
            <a:off x="2171700" y="1968500"/>
            <a:ext cx="1314450" cy="0"/>
          </a:xfrm>
          <a:prstGeom prst="straightConnector1">
            <a:avLst/>
          </a:prstGeom>
          <a:ln w="31750">
            <a:solidFill>
              <a:srgbClr val="E67E22"/>
            </a:solidFill>
            <a:headEnd type="triangle" w="med" len="med"/>
            <a:tailEnd type="triangle" w="med" len="med"/>
          </a:ln>
        </p:spPr>
      </p:cxnSp>
      <p:cxnSp>
        <p:nvCxnSpPr>
          <p:cNvPr id="46" name="A46"/>
          <p:cNvCxnSpPr/>
          <p:nvPr/>
        </p:nvCxnSpPr>
        <p:spPr>
          <a:xfrm>
            <a:off x="5657850" y="1968500"/>
            <a:ext cx="1314450" cy="0"/>
          </a:xfrm>
          <a:prstGeom prst="straightConnector1">
            <a:avLst/>
          </a:prstGeom>
          <a:ln w="31750">
            <a:solidFill>
              <a:srgbClr val="E67E22"/>
            </a:solidFill>
            <a:headEnd type="triangle" w="med" len="med"/>
            <a:tailEnd type="triangle" w="med" len="med"/>
          </a:ln>
        </p:spPr>
      </p:cxnSp>
      <p:sp>
        <p:nvSpPr>
          <p:cNvPr id="47" name="B47"/>
          <p:cNvSpPr/>
          <p:nvPr/>
        </p:nvSpPr>
        <p:spPr>
          <a:xfrm>
            <a:off x="2549525" y="1651000"/>
            <a:ext cx="558800" cy="228600"/>
          </a:xfrm>
          <a:prstGeom prst="roundRect">
            <a:avLst>
              <a:gd name="adj" fmla="val 15000"/>
            </a:avLst>
          </a:prstGeom>
          <a:solidFill>
            <a:srgbClr val="FEF0E5"/>
          </a:solidFill>
          <a:ln w="12700">
            <a:solidFill>
              <a:srgbClr val="E67E22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E67E22"/>
                </a:solidFill>
                <a:latin typeface="Calibri"/>
              </a:rPr>
              <a:t>A2A</a:t>
            </a:r>
          </a:p>
        </p:txBody>
      </p:sp>
      <p:sp>
        <p:nvSpPr>
          <p:cNvPr id="48" name="B48"/>
          <p:cNvSpPr/>
          <p:nvPr/>
        </p:nvSpPr>
        <p:spPr>
          <a:xfrm>
            <a:off x="6035675" y="1651000"/>
            <a:ext cx="558800" cy="228600"/>
          </a:xfrm>
          <a:prstGeom prst="roundRect">
            <a:avLst>
              <a:gd name="adj" fmla="val 15000"/>
            </a:avLst>
          </a:prstGeom>
          <a:solidFill>
            <a:srgbClr val="FEF0E5"/>
          </a:solidFill>
          <a:ln w="12700">
            <a:solidFill>
              <a:srgbClr val="E67E22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E67E22"/>
                </a:solidFill>
                <a:latin typeface="Calibri"/>
              </a:rPr>
              <a:t>A2A</a:t>
            </a:r>
          </a:p>
        </p:txBody>
      </p:sp>
      <p:sp>
        <p:nvSpPr>
          <p:cNvPr id="49" name="B49"/>
          <p:cNvSpPr/>
          <p:nvPr/>
        </p:nvSpPr>
        <p:spPr>
          <a:xfrm>
            <a:off x="4292600" y="2578100"/>
            <a:ext cx="558800" cy="228600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12700">
            <a:solidFill>
              <a:srgbClr val="7D3C98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7D3C98"/>
                </a:solidFill>
                <a:latin typeface="Calibri"/>
              </a:rPr>
              <a:t>MCP</a:t>
            </a:r>
          </a:p>
        </p:txBody>
      </p:sp>
      <p:sp>
        <p:nvSpPr>
          <p:cNvPr id="50" name="B50"/>
          <p:cNvSpPr/>
          <p:nvPr/>
        </p:nvSpPr>
        <p:spPr>
          <a:xfrm>
            <a:off x="1714500" y="3556000"/>
            <a:ext cx="1778000" cy="482600"/>
          </a:xfrm>
          <a:prstGeom prst="roundRect">
            <a:avLst>
              <a:gd name="adj" fmla="val 10000"/>
            </a:avLst>
          </a:prstGeom>
          <a:solidFill>
            <a:srgbClr val="E8DAEF"/>
          </a:solidFill>
          <a:ln w="19050">
            <a:solidFill>
              <a:srgbClr val="7D3C98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7D3C98"/>
                </a:solidFill>
                <a:latin typeface="Calibri"/>
              </a:rPr>
              <a:t>Databases</a:t>
            </a:r>
          </a:p>
        </p:txBody>
      </p:sp>
      <p:cxnSp>
        <p:nvCxnSpPr>
          <p:cNvPr id="51" name="A51"/>
          <p:cNvCxnSpPr>
            <a:cxnSpLocks/>
            <a:stCxn id="49" idx="1"/>
          </p:cNvCxnSpPr>
          <p:nvPr/>
        </p:nvCxnSpPr>
        <p:spPr>
          <a:xfrm flipH="1">
            <a:off x="2603500" y="2692400"/>
            <a:ext cx="1689100" cy="800100"/>
          </a:xfrm>
          <a:prstGeom prst="straightConnector1">
            <a:avLst/>
          </a:prstGeom>
          <a:ln w="25400">
            <a:solidFill>
              <a:srgbClr val="7D3C98"/>
            </a:solidFill>
            <a:tailEnd type="triangle" w="med" len="med"/>
          </a:ln>
        </p:spPr>
      </p:cxnSp>
      <p:sp>
        <p:nvSpPr>
          <p:cNvPr id="52" name="B52"/>
          <p:cNvSpPr/>
          <p:nvPr/>
        </p:nvSpPr>
        <p:spPr>
          <a:xfrm>
            <a:off x="3683000" y="3556000"/>
            <a:ext cx="1778000" cy="482600"/>
          </a:xfrm>
          <a:prstGeom prst="roundRect">
            <a:avLst>
              <a:gd name="adj" fmla="val 10000"/>
            </a:avLst>
          </a:prstGeom>
          <a:solidFill>
            <a:srgbClr val="E8DAEF"/>
          </a:solidFill>
          <a:ln w="19050">
            <a:solidFill>
              <a:srgbClr val="7D3C98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7D3C98"/>
                </a:solidFill>
                <a:latin typeface="Calibri"/>
              </a:rPr>
              <a:t>APIs &amp; Services</a:t>
            </a:r>
          </a:p>
        </p:txBody>
      </p:sp>
      <p:cxnSp>
        <p:nvCxnSpPr>
          <p:cNvPr id="53" name="A53"/>
          <p:cNvCxnSpPr/>
          <p:nvPr/>
        </p:nvCxnSpPr>
        <p:spPr>
          <a:xfrm>
            <a:off x="4572000" y="2362200"/>
            <a:ext cx="0" cy="177800"/>
          </a:xfrm>
          <a:prstGeom prst="straightConnector1">
            <a:avLst/>
          </a:prstGeom>
          <a:ln w="25400">
            <a:solidFill>
              <a:srgbClr val="7D3C98"/>
            </a:solidFill>
            <a:tailEnd type="triangle" w="med" len="med"/>
          </a:ln>
        </p:spPr>
      </p:cxnSp>
      <p:cxnSp>
        <p:nvCxnSpPr>
          <p:cNvPr id="54" name="A54"/>
          <p:cNvCxnSpPr>
            <a:cxnSpLocks/>
            <a:stCxn id="49" idx="2"/>
          </p:cNvCxnSpPr>
          <p:nvPr/>
        </p:nvCxnSpPr>
        <p:spPr>
          <a:xfrm>
            <a:off x="4572000" y="2806700"/>
            <a:ext cx="0" cy="685800"/>
          </a:xfrm>
          <a:prstGeom prst="straightConnector1">
            <a:avLst/>
          </a:prstGeom>
          <a:ln w="25400">
            <a:solidFill>
              <a:srgbClr val="7D3C98"/>
            </a:solidFill>
            <a:tailEnd type="triangle" w="med" len="med"/>
          </a:ln>
        </p:spPr>
      </p:cxnSp>
      <p:sp>
        <p:nvSpPr>
          <p:cNvPr id="55" name="B55"/>
          <p:cNvSpPr/>
          <p:nvPr/>
        </p:nvSpPr>
        <p:spPr>
          <a:xfrm>
            <a:off x="5651500" y="3556000"/>
            <a:ext cx="1778000" cy="482600"/>
          </a:xfrm>
          <a:prstGeom prst="roundRect">
            <a:avLst>
              <a:gd name="adj" fmla="val 10000"/>
            </a:avLst>
          </a:prstGeom>
          <a:solidFill>
            <a:srgbClr val="E8DAEF"/>
          </a:solidFill>
          <a:ln w="19050">
            <a:solidFill>
              <a:srgbClr val="7D3C98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7D3C98"/>
                </a:solidFill>
                <a:latin typeface="Calibri"/>
              </a:rPr>
              <a:t>File Systems</a:t>
            </a:r>
          </a:p>
        </p:txBody>
      </p:sp>
      <p:cxnSp>
        <p:nvCxnSpPr>
          <p:cNvPr id="56" name="A56"/>
          <p:cNvCxnSpPr>
            <a:cxnSpLocks/>
            <a:stCxn id="49" idx="3"/>
          </p:cNvCxnSpPr>
          <p:nvPr/>
        </p:nvCxnSpPr>
        <p:spPr>
          <a:xfrm>
            <a:off x="4851400" y="2692400"/>
            <a:ext cx="1689100" cy="800100"/>
          </a:xfrm>
          <a:prstGeom prst="straightConnector1">
            <a:avLst/>
          </a:prstGeom>
          <a:ln w="25400">
            <a:solidFill>
              <a:srgbClr val="7D3C98"/>
            </a:solidFill>
            <a:tailEnd type="triangle" w="med" len="med"/>
          </a:ln>
        </p:spPr>
      </p:cxnSp>
      <p:sp>
        <p:nvSpPr>
          <p:cNvPr id="57" name="B57"/>
          <p:cNvSpPr/>
          <p:nvPr/>
        </p:nvSpPr>
        <p:spPr>
          <a:xfrm>
            <a:off x="952500" y="4381500"/>
            <a:ext cx="2857500" cy="304800"/>
          </a:xfrm>
          <a:prstGeom prst="roundRect">
            <a:avLst>
              <a:gd name="adj" fmla="val 15000"/>
            </a:avLst>
          </a:prstGeom>
          <a:solidFill>
            <a:srgbClr val="F3E8FF"/>
          </a:solidFill>
          <a:ln w="9525">
            <a:solidFill>
              <a:srgbClr val="7D3C98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400" dirty="0">
                <a:solidFill>
                  <a:srgbClr val="7D3C98"/>
                </a:solidFill>
                <a:latin typeface="Calibri"/>
              </a:rPr>
              <a:t>MCP: Connects agents to tools &amp; data</a:t>
            </a:r>
          </a:p>
        </p:txBody>
      </p:sp>
      <p:sp>
        <p:nvSpPr>
          <p:cNvPr id="58" name="B58"/>
          <p:cNvSpPr/>
          <p:nvPr/>
        </p:nvSpPr>
        <p:spPr>
          <a:xfrm>
            <a:off x="4000500" y="4381500"/>
            <a:ext cx="3175000" cy="304800"/>
          </a:xfrm>
          <a:prstGeom prst="roundRect">
            <a:avLst>
              <a:gd name="adj" fmla="val 15000"/>
            </a:avLst>
          </a:prstGeom>
          <a:solidFill>
            <a:srgbClr val="FEF0E5"/>
          </a:solidFill>
          <a:ln w="9525">
            <a:solidFill>
              <a:srgbClr val="E67E22"/>
            </a:solidFill>
          </a:ln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en-US" sz="1400" dirty="0">
                <a:solidFill>
                  <a:srgbClr val="E67E22"/>
                </a:solidFill>
                <a:latin typeface="Calibri"/>
              </a:rPr>
              <a:t>A2A: Enables multi-agent collaboration</a:t>
            </a:r>
          </a:p>
        </p:txBody>
      </p:sp>
      <p:sp>
        <p:nvSpPr>
          <p:cNvPr id="59" name="L59"/>
          <p:cNvSpPr/>
          <p:nvPr/>
        </p:nvSpPr>
        <p:spPr>
          <a:xfrm>
            <a:off x="381000" y="1066800"/>
            <a:ext cx="8382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18000" tIns="0" rIns="18000" bIns="0" anchor="ctr"/>
          <a:lstStyle/>
          <a:p>
            <a:pPr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libri"/>
              </a:rPr>
              <a:t>Two complementary protocols powering the AI agent ecosystem</a:t>
            </a:r>
          </a:p>
        </p:txBody>
      </p:sp>
    </p:spTree>
    <p:extLst>
      <p:ext uri="{BB962C8B-B14F-4D97-AF65-F5344CB8AC3E}">
        <p14:creationId xmlns:p14="http://schemas.microsoft.com/office/powerpoint/2010/main" val="1663877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4053"/>
          </a:solidFill>
          <a:ln w="12700">
            <a:solidFill>
              <a:srgbClr val="2E4053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749808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Reality Check</a:t>
            </a: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73152"/>
            <a:ext cx="749808" cy="749808"/>
          </a:xfrm>
          <a:prstGeom prst="ellipse">
            <a:avLst/>
          </a:prstGeom>
        </p:spPr>
      </p:pic>
      <p:sp>
        <p:nvSpPr>
          <p:cNvPr id="50" name="Card 0"/>
          <p:cNvSpPr/>
          <p:nvPr/>
        </p:nvSpPr>
        <p:spPr>
          <a:xfrm>
            <a:off x="368300" y="1117600"/>
            <a:ext cx="2667000" cy="15875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51" name="Bar 0"/>
          <p:cNvSpPr/>
          <p:nvPr/>
        </p:nvSpPr>
        <p:spPr>
          <a:xfrm>
            <a:off x="368300" y="1117600"/>
            <a:ext cx="2667000" cy="6350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52" name="Title 0"/>
          <p:cNvSpPr txBox="1"/>
          <p:nvPr/>
        </p:nvSpPr>
        <p:spPr>
          <a:xfrm>
            <a:off x="495300" y="1270000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E4053"/>
                </a:solidFill>
                <a:latin typeface="Calibri" pitchFamily="34" charset="0"/>
              </a:rPr>
              <a:t>Hallucinations</a:t>
            </a:r>
          </a:p>
        </p:txBody>
      </p:sp>
      <p:sp>
        <p:nvSpPr>
          <p:cNvPr id="53" name="Desc 0"/>
          <p:cNvSpPr txBox="1"/>
          <p:nvPr/>
        </p:nvSpPr>
        <p:spPr>
          <a:xfrm>
            <a:off x="495300" y="1651000"/>
            <a:ext cx="2413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LLMs confidently generate wrong answers. Always verify critical outputs before acting on them.</a:t>
            </a:r>
          </a:p>
        </p:txBody>
      </p:sp>
      <p:sp>
        <p:nvSpPr>
          <p:cNvPr id="54" name="Card 1"/>
          <p:cNvSpPr/>
          <p:nvPr/>
        </p:nvSpPr>
        <p:spPr>
          <a:xfrm>
            <a:off x="3276600" y="1117600"/>
            <a:ext cx="2667000" cy="15875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55" name="Bar 1"/>
          <p:cNvSpPr/>
          <p:nvPr/>
        </p:nvSpPr>
        <p:spPr>
          <a:xfrm>
            <a:off x="3276600" y="1117600"/>
            <a:ext cx="2667000" cy="635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56" name="Title 1"/>
          <p:cNvSpPr txBox="1"/>
          <p:nvPr/>
        </p:nvSpPr>
        <p:spPr>
          <a:xfrm>
            <a:off x="3403600" y="1270000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E4053"/>
                </a:solidFill>
                <a:latin typeface="Calibri" pitchFamily="34" charset="0"/>
              </a:rPr>
              <a:t>Bias in training data</a:t>
            </a:r>
          </a:p>
        </p:txBody>
      </p:sp>
      <p:sp>
        <p:nvSpPr>
          <p:cNvPr id="57" name="Desc 1"/>
          <p:cNvSpPr txBox="1"/>
          <p:nvPr/>
        </p:nvSpPr>
        <p:spPr>
          <a:xfrm>
            <a:off x="3403600" y="1651000"/>
            <a:ext cx="2413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Training data contains human biases. Outputs can reflect stereotypes or skewed perspectives.</a:t>
            </a:r>
          </a:p>
        </p:txBody>
      </p:sp>
      <p:sp>
        <p:nvSpPr>
          <p:cNvPr id="58" name="Card 2"/>
          <p:cNvSpPr/>
          <p:nvPr/>
        </p:nvSpPr>
        <p:spPr>
          <a:xfrm>
            <a:off x="6184900" y="1117600"/>
            <a:ext cx="2667000" cy="15875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59" name="Bar 2"/>
          <p:cNvSpPr/>
          <p:nvPr/>
        </p:nvSpPr>
        <p:spPr>
          <a:xfrm>
            <a:off x="6184900" y="1117600"/>
            <a:ext cx="2667000" cy="6350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60" name="Title 2"/>
          <p:cNvSpPr txBox="1"/>
          <p:nvPr/>
        </p:nvSpPr>
        <p:spPr>
          <a:xfrm>
            <a:off x="6311900" y="1270000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E4053"/>
                </a:solidFill>
                <a:latin typeface="Calibri" pitchFamily="34" charset="0"/>
              </a:rPr>
              <a:t>Data privacy risks</a:t>
            </a:r>
          </a:p>
        </p:txBody>
      </p:sp>
      <p:sp>
        <p:nvSpPr>
          <p:cNvPr id="61" name="Desc 2"/>
          <p:cNvSpPr txBox="1"/>
          <p:nvPr/>
        </p:nvSpPr>
        <p:spPr>
          <a:xfrm>
            <a:off x="6311900" y="1651000"/>
            <a:ext cx="2413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Anything you type into a prompt could be stored or used for training. Never paste sensitive data carelessly.</a:t>
            </a:r>
          </a:p>
        </p:txBody>
      </p:sp>
      <p:sp>
        <p:nvSpPr>
          <p:cNvPr id="62" name="Card 3"/>
          <p:cNvSpPr/>
          <p:nvPr/>
        </p:nvSpPr>
        <p:spPr>
          <a:xfrm>
            <a:off x="368300" y="2857500"/>
            <a:ext cx="2667000" cy="15875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63" name="Bar 3"/>
          <p:cNvSpPr/>
          <p:nvPr/>
        </p:nvSpPr>
        <p:spPr>
          <a:xfrm>
            <a:off x="368300" y="2857500"/>
            <a:ext cx="2667000" cy="6350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64" name="Title 3"/>
          <p:cNvSpPr txBox="1"/>
          <p:nvPr/>
        </p:nvSpPr>
        <p:spPr>
          <a:xfrm>
            <a:off x="495300" y="3009900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E4053"/>
                </a:solidFill>
                <a:latin typeface="Calibri" pitchFamily="34" charset="0"/>
              </a:rPr>
              <a:t>Over-reliance</a:t>
            </a:r>
          </a:p>
        </p:txBody>
      </p:sp>
      <p:sp>
        <p:nvSpPr>
          <p:cNvPr id="65" name="Desc 3"/>
          <p:cNvSpPr txBox="1"/>
          <p:nvPr/>
        </p:nvSpPr>
        <p:spPr>
          <a:xfrm>
            <a:off x="495300" y="3390900"/>
            <a:ext cx="2413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Using AI as a crutch weakens your own skills. Use it to augment your thinking, not replace it.</a:t>
            </a:r>
          </a:p>
        </p:txBody>
      </p:sp>
      <p:sp>
        <p:nvSpPr>
          <p:cNvPr id="66" name="Card 4"/>
          <p:cNvSpPr/>
          <p:nvPr/>
        </p:nvSpPr>
        <p:spPr>
          <a:xfrm>
            <a:off x="3276600" y="2857500"/>
            <a:ext cx="2667000" cy="15875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67" name="Bar 4"/>
          <p:cNvSpPr/>
          <p:nvPr/>
        </p:nvSpPr>
        <p:spPr>
          <a:xfrm>
            <a:off x="3276600" y="2857500"/>
            <a:ext cx="2667000" cy="6350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68" name="Title 4"/>
          <p:cNvSpPr txBox="1"/>
          <p:nvPr/>
        </p:nvSpPr>
        <p:spPr>
          <a:xfrm>
            <a:off x="3403600" y="3009900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E4053"/>
                </a:solidFill>
                <a:latin typeface="Calibri" pitchFamily="34" charset="0"/>
              </a:rPr>
              <a:t>Energy &amp; cost</a:t>
            </a:r>
          </a:p>
        </p:txBody>
      </p:sp>
      <p:sp>
        <p:nvSpPr>
          <p:cNvPr id="69" name="Desc 4"/>
          <p:cNvSpPr txBox="1"/>
          <p:nvPr/>
        </p:nvSpPr>
        <p:spPr>
          <a:xfrm>
            <a:off x="3403600" y="3390900"/>
            <a:ext cx="2413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Training a large model can emit as much CO2 as five cars over their lifetime. Running them isn't free either.</a:t>
            </a:r>
          </a:p>
        </p:txBody>
      </p:sp>
      <p:sp>
        <p:nvSpPr>
          <p:cNvPr id="70" name="Card 5"/>
          <p:cNvSpPr/>
          <p:nvPr/>
        </p:nvSpPr>
        <p:spPr>
          <a:xfrm>
            <a:off x="6184900" y="2857500"/>
            <a:ext cx="2667000" cy="15875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71" name="Bar 5"/>
          <p:cNvSpPr/>
          <p:nvPr/>
        </p:nvSpPr>
        <p:spPr>
          <a:xfrm>
            <a:off x="6184900" y="2857500"/>
            <a:ext cx="2667000" cy="63500"/>
          </a:xfrm>
          <a:prstGeom prst="roundRect">
            <a:avLst>
              <a:gd name="adj" fmla="val 50000"/>
            </a:avLst>
          </a:prstGeom>
          <a:solidFill>
            <a:srgbClr val="1ABC9C"/>
          </a:solidFill>
          <a:ln>
            <a:noFill/>
          </a:ln>
        </p:spPr>
        <p:txBody>
          <a:bodyPr/>
          <a:lstStyle/>
          <a:p>
            <a:endParaRPr lang="nl-BE"/>
          </a:p>
        </p:txBody>
      </p:sp>
      <p:sp>
        <p:nvSpPr>
          <p:cNvPr id="72" name="Title 5"/>
          <p:cNvSpPr txBox="1"/>
          <p:nvPr/>
        </p:nvSpPr>
        <p:spPr>
          <a:xfrm>
            <a:off x="6311900" y="3009900"/>
            <a:ext cx="2413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2E4053"/>
                </a:solidFill>
                <a:latin typeface="Calibri" pitchFamily="34" charset="0"/>
              </a:rPr>
              <a:t>No real understanding</a:t>
            </a:r>
          </a:p>
        </p:txBody>
      </p:sp>
      <p:sp>
        <p:nvSpPr>
          <p:cNvPr id="73" name="Desc 5"/>
          <p:cNvSpPr txBox="1"/>
          <p:nvPr/>
        </p:nvSpPr>
        <p:spPr>
          <a:xfrm>
            <a:off x="6311900" y="3390900"/>
            <a:ext cx="2413000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LLMs predict text patterns — they have no concept of truth, logic, or consequences.</a:t>
            </a:r>
          </a:p>
        </p:txBody>
      </p:sp>
      <p:sp>
        <p:nvSpPr>
          <p:cNvPr id="99" name="Footer"/>
          <p:cNvSpPr txBox="1"/>
          <p:nvPr/>
        </p:nvSpPr>
        <p:spPr>
          <a:xfrm>
            <a:off x="368300" y="4622800"/>
            <a:ext cx="8407400" cy="406400"/>
          </a:xfrm>
          <a:prstGeom prst="rect">
            <a:avLst/>
          </a:prstGeom>
          <a:solidFill>
            <a:srgbClr val="2C3E50">
              <a:alpha val="80000"/>
            </a:srgbClr>
          </a:solidFill>
          <a:ln>
            <a:noFill/>
          </a:ln>
          <a:effectLst/>
        </p:spPr>
        <p:txBody>
          <a:bodyPr wrap="square" lIns="91440" tIns="0" rIns="91440" bIns="0" anchor="ctr"/>
          <a:lstStyle/>
          <a:p>
            <a:pPr algn="l">
              <a:buNone/>
            </a:pPr>
            <a:r>
              <a:rPr lang="en-US" sz="1100" i="1" dirty="0">
                <a:solidFill>
                  <a:srgbClr val="FFCC00"/>
                </a:solidFill>
                <a:latin typeface="Calibri" pitchFamily="34" charset="0"/>
              </a:rPr>
              <a:t>AI is a powerful tool — but it needs human oversight, not blind trust.</a:t>
            </a:r>
          </a:p>
        </p:txBody>
      </p:sp>
    </p:spTree>
    <p:extLst>
      <p:ext uri="{BB962C8B-B14F-4D97-AF65-F5344CB8AC3E}">
        <p14:creationId xmlns:p14="http://schemas.microsoft.com/office/powerpoint/2010/main" val="4075188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4572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TIME!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3657600" y="14630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back, relax,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enjoy the show 🍿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8" name="Text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something breaks, it's a feature, not a bug)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E7C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B5A8F">
              <a:alpha val="50000"/>
            </a:srgbClr>
          </a:solidFill>
          <a:ln w="12700">
            <a:solidFill>
              <a:srgbClr val="2B5A8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2B5A8F">
              <a:alpha val="50000"/>
            </a:srgbClr>
          </a:solidFill>
          <a:ln w="12700">
            <a:solidFill>
              <a:srgbClr val="2B5A8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35971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766855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C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1371600" y="2788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— what would be useful for your team?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nl-BE"/>
          </a:p>
        </p:txBody>
      </p:sp>
      <p:sp>
        <p:nvSpPr>
          <p:cNvPr id="13" name="Text 8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And do not forget, be sharp, C#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60306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6BE3FBE-F350-46B8-A4C4-E45DC7A18BA8}">
  <we:reference id="f5f369e5-aa35-49d7-ad7b-638152ddb008" version="1.0.0.0" store="EXCatalog" storeType="EXCatalog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685</Words>
  <Application>Microsoft Office PowerPoint</Application>
  <PresentationFormat>On-screen Show (16:9)</PresentationFormat>
  <Paragraphs>165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Inspiration Session</dc:title>
  <dc:subject>PptxGenJS Presentation</dc:subject>
  <dc:creator>PptxGenJS</dc:creator>
  <cp:lastModifiedBy>Marc Wouters</cp:lastModifiedBy>
  <cp:revision>45</cp:revision>
  <dcterms:created xsi:type="dcterms:W3CDTF">2026-03-07T21:05:42Z</dcterms:created>
  <dcterms:modified xsi:type="dcterms:W3CDTF">2026-03-08T17:07:34Z</dcterms:modified>
</cp:coreProperties>
</file>